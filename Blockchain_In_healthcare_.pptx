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67" r:id="rId3"/>
    <p:sldId id="257" r:id="rId4"/>
    <p:sldId id="258" r:id="rId5"/>
    <p:sldId id="259" r:id="rId6"/>
    <p:sldId id="260" r:id="rId7"/>
    <p:sldId id="269" r:id="rId8"/>
    <p:sldId id="262" r:id="rId9"/>
    <p:sldId id="263" r:id="rId10"/>
    <p:sldId id="272" r:id="rId11"/>
    <p:sldId id="271" r:id="rId12"/>
    <p:sldId id="264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1E6D1D-F77A-4521-8195-204A19ABD5E1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27A77-D751-48F9-AA54-991075EE08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177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A7523A-12D4-4E0F-9409-B3F845B4833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814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7312815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609441" y="1604520"/>
            <a:ext cx="10969463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68900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7312815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41" y="1604520"/>
            <a:ext cx="10969463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2367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7312815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41" y="1604520"/>
            <a:ext cx="5353006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30697" y="1604520"/>
            <a:ext cx="5353006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5925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7312815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0707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7312815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3897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7312815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41" y="1604520"/>
            <a:ext cx="5353006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0697" y="1604520"/>
            <a:ext cx="5353006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41" y="3682080"/>
            <a:ext cx="5353006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5824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7312815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41" y="1604520"/>
            <a:ext cx="5353006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230697" y="1604520"/>
            <a:ext cx="5353006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230697" y="3682080"/>
            <a:ext cx="5353006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6877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7312815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41" y="1604520"/>
            <a:ext cx="5353006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230697" y="1604520"/>
            <a:ext cx="5353006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09441" y="3682080"/>
            <a:ext cx="10969463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8209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7312815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41" y="1604520"/>
            <a:ext cx="10969463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09441" y="3682080"/>
            <a:ext cx="10969463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52099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7312815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41" y="1604520"/>
            <a:ext cx="5353006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0697" y="1604520"/>
            <a:ext cx="5353006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09441" y="3682080"/>
            <a:ext cx="5353006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230697" y="3682080"/>
            <a:ext cx="5353006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81116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7312815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41" y="1604520"/>
            <a:ext cx="35318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318395" y="1604520"/>
            <a:ext cx="35318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8027349" y="1604520"/>
            <a:ext cx="35318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609441" y="3682080"/>
            <a:ext cx="35318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4318395" y="3682080"/>
            <a:ext cx="35318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8027349" y="3682080"/>
            <a:ext cx="35318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987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12188345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12188345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8735165" y="228600"/>
            <a:ext cx="2742006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8735165" y="228600"/>
            <a:ext cx="2742006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8193386" y="0"/>
            <a:ext cx="3994959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8735165" y="228600"/>
            <a:ext cx="2560133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8735165" y="228600"/>
            <a:ext cx="2742006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8193386" y="0"/>
            <a:ext cx="3994959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8735165" y="228600"/>
            <a:ext cx="2560133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8633431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609441" y="1371600"/>
            <a:ext cx="10969463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609441" y="6356520"/>
            <a:ext cx="2843739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4164355" y="6356520"/>
            <a:ext cx="3859155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8735165" y="6356520"/>
            <a:ext cx="2843739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8914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3080" indent="-342720" algn="l" defTabSz="914400" rtl="0" eaLnBrk="1" latinLnBrk="0" hangingPunct="1">
        <a:lnSpc>
          <a:spcPct val="100000"/>
        </a:lnSpc>
        <a:spcBef>
          <a:spcPts val="641"/>
        </a:spcBef>
        <a:buClr>
          <a:srgbClr val="000000"/>
        </a:buClr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1522412" y="840632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 defTabSz="914400">
              <a:spcBef>
                <a:spcPts val="400"/>
              </a:spcBef>
            </a:pPr>
            <a:r>
              <a:rPr lang="en-IN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 defTabSz="914400">
              <a:spcBef>
                <a:spcPts val="400"/>
              </a:spcBef>
            </a:pPr>
            <a:r>
              <a:rPr lang="en-US" sz="2000" spc="-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 defTabSz="914400">
              <a:spcBef>
                <a:spcPts val="400"/>
              </a:spcBef>
            </a:pPr>
            <a:r>
              <a:rPr lang="en-US" sz="4800" dirty="0"/>
              <a:t>An Implemented Blockchain-Based Framework for Healthcare Data Sharing</a:t>
            </a:r>
          </a:p>
          <a:p>
            <a:pPr algn="ctr" defTabSz="914400">
              <a:spcBef>
                <a:spcPts val="400"/>
              </a:spcBef>
            </a:pPr>
            <a:b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Rohan Kumar (2210990739)</a:t>
            </a:r>
            <a:br>
              <a:rPr lang="en-IN" dirty="0">
                <a:solidFill>
                  <a:prstClr val="black"/>
                </a:solidFill>
                <a:latin typeface="Arial"/>
              </a:rPr>
            </a:br>
            <a:r>
              <a:rPr lang="en-IN" dirty="0">
                <a:solidFill>
                  <a:prstClr val="black"/>
                </a:solidFill>
                <a:latin typeface="Arial"/>
              </a:rPr>
              <a:t>Harmanjeet Singh (2210990371)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 defTabSz="914400"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 defTabSz="914400">
              <a:spcBef>
                <a:spcPts val="400"/>
              </a:spcBef>
            </a:pPr>
            <a:r>
              <a:rPr lang="en-US" sz="2000" spc="-1" dirty="0">
                <a:solidFill>
                  <a:prstClr val="black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Mrs. Swati Goel</a:t>
            </a:r>
          </a:p>
          <a:p>
            <a:pPr algn="ctr" defTabSz="914400">
              <a:spcBef>
                <a:spcPts val="400"/>
              </a:spcBef>
            </a:pPr>
            <a:r>
              <a:rPr lang="en-US" sz="2400" spc="-1" dirty="0">
                <a:solidFill>
                  <a:prstClr val="black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and Engineering, </a:t>
            </a:r>
          </a:p>
          <a:p>
            <a:pPr algn="ctr" defTabSz="914400">
              <a:spcBef>
                <a:spcPts val="400"/>
              </a:spcBef>
            </a:pPr>
            <a:r>
              <a:rPr lang="en-US" sz="2400" spc="-1" dirty="0">
                <a:solidFill>
                  <a:prstClr val="black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 defTabSz="914400">
              <a:lnSpc>
                <a:spcPct val="15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Calibri"/>
            </a:endParaRPr>
          </a:p>
          <a:p>
            <a:pPr defTabSz="914400">
              <a:spcBef>
                <a:spcPts val="641"/>
              </a:spcBef>
            </a:pPr>
            <a:endParaRPr lang="en-US" sz="2000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" y="18288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581" y="198857"/>
            <a:ext cx="25858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80000"/>
                </a:solidFill>
              </a:defRPr>
            </a:pPr>
            <a:r>
              <a:rPr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734" y="2090172"/>
            <a:ext cx="849672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• Healthcare generates massive sensitive patient data.</a:t>
            </a:r>
          </a:p>
          <a:p>
            <a:r>
              <a:rPr lang="en-US" sz="2400" dirty="0"/>
              <a:t>• Centralized systems face security and interoperability issues.</a:t>
            </a:r>
          </a:p>
          <a:p>
            <a:r>
              <a:rPr lang="en-US" sz="2400" dirty="0"/>
              <a:t>• Patients have limited control over Personal Health Records.</a:t>
            </a:r>
          </a:p>
          <a:p>
            <a:r>
              <a:rPr lang="en-US" sz="2400" dirty="0"/>
              <a:t>• Blockchain provides decentralization and transparency.</a:t>
            </a:r>
          </a:p>
          <a:p>
            <a:r>
              <a:rPr lang="en-US" sz="2400" dirty="0"/>
              <a:t>• Smart contracts enable secure automated access control.</a:t>
            </a:r>
          </a:p>
          <a:p>
            <a:r>
              <a:rPr lang="en-US" sz="2400" dirty="0"/>
              <a:t>• Off-chain encrypted storage improves scalability.</a:t>
            </a:r>
          </a:p>
          <a:p>
            <a:r>
              <a:rPr lang="en-US" sz="2400" dirty="0"/>
              <a:t>• Proposed framework focuses on patient-centric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76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74031"/>
            <a:ext cx="317708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80000"/>
                </a:solidFill>
              </a:defRPr>
            </a:pPr>
            <a:r>
              <a:rPr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8773299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400" dirty="0"/>
              <a:t>• </a:t>
            </a:r>
            <a:r>
              <a:rPr lang="en-IN" sz="2400" dirty="0" err="1"/>
              <a:t>MedRec</a:t>
            </a:r>
            <a:r>
              <a:rPr lang="en-IN" sz="2400" dirty="0"/>
              <a:t> introduced blockchain-based EHR access control.</a:t>
            </a:r>
          </a:p>
          <a:p>
            <a:r>
              <a:rPr lang="en-IN" sz="2400" dirty="0"/>
              <a:t>• </a:t>
            </a:r>
            <a:r>
              <a:rPr lang="en-IN" sz="2400" dirty="0" err="1"/>
              <a:t>MeDShare</a:t>
            </a:r>
            <a:r>
              <a:rPr lang="en-IN" sz="2400" dirty="0"/>
              <a:t> enabled decentralized medical cloud sharing.</a:t>
            </a:r>
          </a:p>
          <a:p>
            <a:r>
              <a:rPr lang="en-IN" sz="2400" dirty="0"/>
              <a:t>• Privacy-preserving healthcare systems used encryption techniques.</a:t>
            </a:r>
          </a:p>
          <a:p>
            <a:r>
              <a:rPr lang="en-IN" sz="2400" dirty="0"/>
              <a:t>• </a:t>
            </a:r>
            <a:r>
              <a:rPr lang="en-IN" sz="2400" dirty="0" err="1"/>
              <a:t>OmniPHR</a:t>
            </a:r>
            <a:r>
              <a:rPr lang="en-IN" sz="2400" dirty="0"/>
              <a:t> proposed decentralized patient-controlled records.</a:t>
            </a:r>
          </a:p>
          <a:p>
            <a:r>
              <a:rPr lang="en-IN" sz="2400" dirty="0"/>
              <a:t>• Existing systems still face scalability and privacy challenges.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472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0178" y="183863"/>
            <a:ext cx="248215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80000"/>
                </a:solidFill>
              </a:defRPr>
            </a:pPr>
            <a:r>
              <a:rPr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59504"/>
            <a:ext cx="106090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• Design Science Research methodology adopted.</a:t>
            </a:r>
          </a:p>
          <a:p>
            <a:r>
              <a:rPr lang="en-US" sz="2000" dirty="0"/>
              <a:t>• Literature review conducted for 2017–2024 studies.</a:t>
            </a:r>
          </a:p>
          <a:p>
            <a:r>
              <a:rPr lang="en-US" sz="2000" dirty="0"/>
              <a:t>• Comparative analysis of blockchain healthcare models.</a:t>
            </a:r>
          </a:p>
          <a:p>
            <a:r>
              <a:rPr lang="en-US" sz="2000" dirty="0"/>
              <a:t>• Requirement-driven framework architecture designed.</a:t>
            </a:r>
          </a:p>
          <a:p>
            <a:r>
              <a:rPr lang="en-US" sz="2000" dirty="0"/>
              <a:t>• Solidity smart contracts developed and simulated.</a:t>
            </a:r>
          </a:p>
          <a:p>
            <a:r>
              <a:rPr lang="en-US" sz="2000" dirty="0"/>
              <a:t>• Security evaluated using STRIDE threat modeling.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C95EFA-6965-EC35-AE85-95F6728DCFAA}"/>
              </a:ext>
            </a:extLst>
          </p:cNvPr>
          <p:cNvSpPr txBox="1"/>
          <p:nvPr/>
        </p:nvSpPr>
        <p:spPr>
          <a:xfrm>
            <a:off x="8393908" y="4524940"/>
            <a:ext cx="116172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rPr dirty="0"/>
              <a:t>Fig </a:t>
            </a:r>
            <a:r>
              <a:rPr lang="en-IN" dirty="0"/>
              <a:t>1</a:t>
            </a:r>
            <a:r>
              <a:rPr dirty="0"/>
              <a:t>: Workflow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0FB38D-75E3-5BCA-3C9A-B4B1B702DE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432" y="2194560"/>
            <a:ext cx="315468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19" y="146500"/>
            <a:ext cx="38216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80000"/>
                </a:solidFill>
              </a:defRPr>
            </a:pPr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Proposed Framework</a:t>
            </a:r>
            <a:endParaRPr sz="3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2066544"/>
            <a:ext cx="7619586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400" dirty="0"/>
              <a:t>• Three-layer blockchain healthcare architecture proposed.</a:t>
            </a:r>
          </a:p>
          <a:p>
            <a:r>
              <a:rPr lang="en-IN" sz="2400" dirty="0"/>
              <a:t>• Storage Layer uses AES-256 encrypted IPFS storage.</a:t>
            </a:r>
          </a:p>
          <a:p>
            <a:r>
              <a:rPr lang="en-IN" sz="2400" dirty="0"/>
              <a:t>• Access Control Layer uses Ethereum smart contracts.</a:t>
            </a:r>
          </a:p>
          <a:p>
            <a:r>
              <a:rPr lang="en-IN" sz="2400" dirty="0"/>
              <a:t>• Application Layer provides patient-facing apps.</a:t>
            </a:r>
          </a:p>
          <a:p>
            <a:r>
              <a:rPr lang="en-IN" sz="2400" dirty="0"/>
              <a:t>• Patients can grant and revoke permissions.</a:t>
            </a:r>
          </a:p>
          <a:p>
            <a:r>
              <a:rPr lang="en-IN" sz="2400" dirty="0"/>
              <a:t>• Emergency access supported using Shamir Secret Sharing.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(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18288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34155"/>
            <a:ext cx="398218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BE0000"/>
                </a:solidFill>
              </a:defRPr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Smart Contract Design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45434" y="2145023"/>
            <a:ext cx="86026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• Solidity smart contracts manage healthcare permissions.</a:t>
            </a:r>
          </a:p>
          <a:p>
            <a:r>
              <a:rPr lang="en-US" sz="2400" dirty="0"/>
              <a:t>• </a:t>
            </a:r>
            <a:r>
              <a:rPr lang="en-US" sz="2400" dirty="0" err="1"/>
              <a:t>grantAccess</a:t>
            </a:r>
            <a:r>
              <a:rPr lang="en-US" sz="2400" dirty="0"/>
              <a:t>() and </a:t>
            </a:r>
            <a:r>
              <a:rPr lang="en-US" sz="2400" dirty="0" err="1"/>
              <a:t>revokeAccess</a:t>
            </a:r>
            <a:r>
              <a:rPr lang="en-US" sz="2400" dirty="0"/>
              <a:t>() control access rights.</a:t>
            </a:r>
          </a:p>
          <a:p>
            <a:r>
              <a:rPr lang="en-US" sz="2400" dirty="0"/>
              <a:t>• Immutable audit logs stored on blockchain.</a:t>
            </a:r>
          </a:p>
          <a:p>
            <a:r>
              <a:rPr lang="en-US" sz="2400" dirty="0"/>
              <a:t>• Event-driven secure key delivery implemented.</a:t>
            </a:r>
          </a:p>
          <a:p>
            <a:r>
              <a:rPr lang="en-US" sz="2400" dirty="0"/>
              <a:t>• Mapping structures optimize gas and lookup efficiency.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9842" y="154367"/>
            <a:ext cx="296369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200" dirty="0"/>
              <a:t>Security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443239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400" dirty="0"/>
              <a:t>• AES-256 encryption ensures confidentiality.</a:t>
            </a:r>
          </a:p>
          <a:p>
            <a:r>
              <a:rPr lang="en-IN" sz="2400" dirty="0"/>
              <a:t>• Blockchain hashes maintain data integrity.</a:t>
            </a:r>
          </a:p>
          <a:p>
            <a:r>
              <a:rPr lang="en-IN" sz="2400" dirty="0"/>
              <a:t>• Digital signatures ensure authentication.</a:t>
            </a:r>
          </a:p>
          <a:p>
            <a:r>
              <a:rPr lang="en-IN" sz="2400" dirty="0"/>
              <a:t>• Immutable audit logs provide non-repudiation.</a:t>
            </a:r>
          </a:p>
          <a:p>
            <a:r>
              <a:rPr lang="en-IN" sz="2400" dirty="0"/>
              <a:t>• Consortium blockchain reduces 51% attack risks.</a:t>
            </a:r>
          </a:p>
          <a:p>
            <a:r>
              <a:rPr lang="en-IN" sz="2400" dirty="0"/>
              <a:t>• IPFS improves distributed availability.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54367"/>
            <a:ext cx="365548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dirty="0"/>
              <a:t>Performance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2322576"/>
            <a:ext cx="68397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• Proposed framework achieved 80–120 TPS.</a:t>
            </a:r>
          </a:p>
          <a:p>
            <a:r>
              <a:rPr lang="en-US" sz="2400" dirty="0"/>
              <a:t>• Access latency reduced to 1–2 seconds.</a:t>
            </a:r>
          </a:p>
          <a:p>
            <a:r>
              <a:rPr lang="en-US" sz="2400" dirty="0"/>
              <a:t>• Full patient control and auditability achieved.</a:t>
            </a:r>
          </a:p>
          <a:p>
            <a:r>
              <a:rPr lang="en-US" sz="2400" dirty="0"/>
              <a:t>• Higher privacy compared to centralized systems.</a:t>
            </a:r>
          </a:p>
          <a:p>
            <a:r>
              <a:rPr lang="en-US" sz="2400" dirty="0"/>
              <a:t>• Framework suitable for healthcare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26024-D927-21F9-5FE0-C27BECFB3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(6).png">
            <a:extLst>
              <a:ext uri="{FF2B5EF4-FFF2-40B4-BE49-F238E27FC236}">
                <a16:creationId xmlns:a16="http://schemas.microsoft.com/office/drawing/2014/main" id="{45B9EF58-85F5-9960-3DB2-8434B2560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AE69AF-8B2A-2B9D-2F18-2CB873AEB27F}"/>
              </a:ext>
            </a:extLst>
          </p:cNvPr>
          <p:cNvSpPr txBox="1"/>
          <p:nvPr/>
        </p:nvSpPr>
        <p:spPr>
          <a:xfrm>
            <a:off x="914400" y="154367"/>
            <a:ext cx="17780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DAC5E-5C7F-95F2-CD8B-01E5FC1F709D}"/>
              </a:ext>
            </a:extLst>
          </p:cNvPr>
          <p:cNvSpPr txBox="1"/>
          <p:nvPr/>
        </p:nvSpPr>
        <p:spPr>
          <a:xfrm>
            <a:off x="914400" y="1645920"/>
            <a:ext cx="7590732" cy="32983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Blockchain improves healthcare data security and transparency.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Patient-centric framework enhances privacy and control.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Smart contracts automate secure access management.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Off-chain storage improves scalability and efficiency.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Consortium blockchain ensures better performance and trust.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Emergency access protocol solves critical healthcare issues.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Framework provides strong auditability and interoperability.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Future work includes deployment and Layer-2 scaling. 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endParaRPr lang="en-IN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B74BBB9-BFCD-A721-2C2C-EFE35085D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03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654F6-0F27-EC77-C51C-201807CFB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(6).png">
            <a:extLst>
              <a:ext uri="{FF2B5EF4-FFF2-40B4-BE49-F238E27FC236}">
                <a16:creationId xmlns:a16="http://schemas.microsoft.com/office/drawing/2014/main" id="{971E82E6-7617-B78D-2907-1279C91E8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9BBEBD-E0D5-CAE8-8A18-6CD6F126061A}"/>
              </a:ext>
            </a:extLst>
          </p:cNvPr>
          <p:cNvSpPr txBox="1"/>
          <p:nvPr/>
        </p:nvSpPr>
        <p:spPr>
          <a:xfrm>
            <a:off x="914400" y="154367"/>
            <a:ext cx="18207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80000"/>
                </a:solidFill>
              </a:defRPr>
            </a:pPr>
            <a:r>
              <a:rPr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535964-637C-1EAD-0EBA-2E98BCFBB810}"/>
              </a:ext>
            </a:extLst>
          </p:cNvPr>
          <p:cNvSpPr txBox="1"/>
          <p:nvPr/>
        </p:nvSpPr>
        <p:spPr>
          <a:xfrm>
            <a:off x="914400" y="1645920"/>
            <a:ext cx="5206875" cy="29905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Azaria et al. – </a:t>
            </a:r>
            <a:r>
              <a:rPr lang="en-US" altLang="en-US" sz="2000" dirty="0" err="1">
                <a:latin typeface="Arial" panose="020B0604020202020204" pitchFamily="34" charset="0"/>
              </a:rPr>
              <a:t>MedRec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Xia et al. – </a:t>
            </a:r>
            <a:r>
              <a:rPr lang="en-US" altLang="en-US" sz="2000" dirty="0" err="1">
                <a:latin typeface="Arial" panose="020B0604020202020204" pitchFamily="34" charset="0"/>
              </a:rPr>
              <a:t>MeDShare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Gordon &amp; Catalini – Blockchain Healthcare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Roehrs et al. – </a:t>
            </a:r>
            <a:r>
              <a:rPr lang="en-US" altLang="en-US" sz="2000" dirty="0" err="1">
                <a:latin typeface="Arial" panose="020B0604020202020204" pitchFamily="34" charset="0"/>
              </a:rPr>
              <a:t>OmniPHR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Nakamoto – Bitcoin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Buterin – Ethereum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IEEE / ACM / PubMed Research Papers 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891DD89-33E9-28C3-4AA9-E240B0B9D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93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664"/>
            <a:ext cx="12188952" cy="6858000"/>
          </a:xfrm>
          <a:prstGeom prst="rect">
            <a:avLst/>
          </a:prstGeom>
        </p:spPr>
      </p:pic>
      <p:sp>
        <p:nvSpPr>
          <p:cNvPr id="4" name="TextShape 1">
            <a:extLst>
              <a:ext uri="{FF2B5EF4-FFF2-40B4-BE49-F238E27FC236}">
                <a16:creationId xmlns:a16="http://schemas.microsoft.com/office/drawing/2014/main" id="{27C5D07B-0245-B23E-0ADE-306D7A134DC6}"/>
              </a:ext>
            </a:extLst>
          </p:cNvPr>
          <p:cNvSpPr txBox="1"/>
          <p:nvPr/>
        </p:nvSpPr>
        <p:spPr>
          <a:xfrm>
            <a:off x="2526610" y="2763594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 defTabSz="914400"/>
            <a:r>
              <a:rPr lang="en" sz="5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498</Words>
  <Application>Microsoft Office PowerPoint</Application>
  <PresentationFormat>Custom</PresentationFormat>
  <Paragraphs>78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Rohan Kumar</cp:lastModifiedBy>
  <cp:revision>4</cp:revision>
  <dcterms:created xsi:type="dcterms:W3CDTF">2013-01-27T09:14:16Z</dcterms:created>
  <dcterms:modified xsi:type="dcterms:W3CDTF">2026-05-18T05:13:45Z</dcterms:modified>
  <cp:category/>
</cp:coreProperties>
</file>